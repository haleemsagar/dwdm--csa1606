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75" r:id="rId4"/>
    <p:sldId id="268" r:id="rId5"/>
    <p:sldId id="270" r:id="rId6"/>
    <p:sldId id="259" r:id="rId7"/>
    <p:sldId id="260" r:id="rId8"/>
    <p:sldId id="261" r:id="rId9"/>
    <p:sldId id="273" r:id="rId10"/>
    <p:sldId id="263" r:id="rId11"/>
    <p:sldId id="269" r:id="rId12"/>
    <p:sldId id="264" r:id="rId13"/>
    <p:sldId id="265" r:id="rId14"/>
    <p:sldId id="274" r:id="rId15"/>
    <p:sldId id="266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>
        <p:guide orient="horz" pos="213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C09DD2C-C8C0-7305-2E17-DB35AE139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B0DB4E03-73F7-9172-CE85-C4B84DE79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DE33AB87-D87F-F017-66C8-B8B6BF562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2090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F396080-EC0D-E912-5A59-7C2E6FD2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C22F72CB-F5FF-7F2D-74BC-FC76DC166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11BD8F6-2C14-2A7A-81F1-3213617F7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09F8F5A-73F4-7FEB-831D-2BF1357BBE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2942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1F8BD81-69CF-75EE-9129-61208BD7E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ECB8FBEE-FB84-4BB4-796D-6EE6CAEA0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FC77693-08B5-68B7-3936-2A9CDED52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68008CA-7A7F-D4A7-967A-8495C5F96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5515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2943A10-4FE1-9A6E-D525-658213B6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9604AC6-CF37-6622-B63F-C67D3E697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2D9A0DC-A887-8E28-C4C9-FCC46787E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F692A8D-F909-283A-3853-D30E1D54A0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8783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>
          <a:extLst>
            <a:ext uri="{FF2B5EF4-FFF2-40B4-BE49-F238E27FC236}">
              <a16:creationId xmlns:a16="http://schemas.microsoft.com/office/drawing/2014/main" id="{659C150D-318F-586D-CDC9-9DE027E4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>
            <a:extLst>
              <a:ext uri="{FF2B5EF4-FFF2-40B4-BE49-F238E27FC236}">
                <a16:creationId xmlns:a16="http://schemas.microsoft.com/office/drawing/2014/main" id="{71AEC107-20F8-A426-F5A6-69AC0002CA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10:notes">
            <a:extLst>
              <a:ext uri="{FF2B5EF4-FFF2-40B4-BE49-F238E27FC236}">
                <a16:creationId xmlns:a16="http://schemas.microsoft.com/office/drawing/2014/main" id="{3ED11849-59C8-63E4-1B57-B68456E765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2242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BB83880-D8F5-EE68-23DF-ADFBD51F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>
            <a:extLst>
              <a:ext uri="{FF2B5EF4-FFF2-40B4-BE49-F238E27FC236}">
                <a16:creationId xmlns:a16="http://schemas.microsoft.com/office/drawing/2014/main" id="{BB3D15D0-4D37-6C4C-A300-C8D6C5239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3:notes">
            <a:extLst>
              <a:ext uri="{FF2B5EF4-FFF2-40B4-BE49-F238E27FC236}">
                <a16:creationId xmlns:a16="http://schemas.microsoft.com/office/drawing/2014/main" id="{814C0262-68A0-FB3B-F11A-E4F9CB71C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13:notes">
            <a:extLst>
              <a:ext uri="{FF2B5EF4-FFF2-40B4-BE49-F238E27FC236}">
                <a16:creationId xmlns:a16="http://schemas.microsoft.com/office/drawing/2014/main" id="{7723EDFE-6160-62CB-06EA-81AABA33FC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741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510375" y="1534510"/>
            <a:ext cx="10730400" cy="152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1200"/>
              </a:spcBef>
              <a:buSzPts val="4400"/>
            </a:pPr>
            <a:r>
              <a:rPr lang="en-US" b="1" dirty="0"/>
              <a:t>Analyzing Sports Performance Using Player Metrics</a:t>
            </a:r>
            <a:endParaRPr b="1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6096000" y="3429000"/>
            <a:ext cx="5664200" cy="2805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r>
              <a:rPr lang="en-US" sz="24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by:-</a:t>
            </a:r>
            <a:endParaRPr sz="2400" b="1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spcBef>
                <a:spcPts val="608"/>
              </a:spcBef>
              <a:buClr>
                <a:srgbClr val="0C0C0C"/>
              </a:buClr>
              <a:buSzPct val="100000"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Sk. Sameer – 192372288</a:t>
            </a:r>
            <a:b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Roshan Jameer SD – 192372139</a:t>
            </a:r>
            <a:b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Haleem Sagar – 192372</a:t>
            </a:r>
            <a:b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 Bharath Kumar Reddy - 192372050</a:t>
            </a:r>
          </a:p>
          <a:p>
            <a:pPr marL="0" lvl="0" indent="0">
              <a:spcBef>
                <a:spcPts val="608"/>
              </a:spcBef>
              <a:buClr>
                <a:srgbClr val="0C0C0C"/>
              </a:buClr>
              <a:buSzPct val="100000"/>
            </a:pPr>
            <a:r>
              <a:rPr lang="en-US" sz="2400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4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10000"/>
              </a:lnSpc>
              <a:spcBef>
                <a:spcPts val="608"/>
              </a:spcBef>
              <a:spcAft>
                <a:spcPts val="0"/>
              </a:spcAft>
              <a:buClr>
                <a:srgbClr val="0C0C0C"/>
              </a:buClr>
              <a:buSzPct val="100000"/>
              <a:buNone/>
            </a:pPr>
            <a:endParaRPr sz="24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lnSpc>
                <a:spcPct val="100000"/>
              </a:lnSpc>
              <a:spcBef>
                <a:spcPts val="608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sz="2400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1F1785-DB62-FC87-1555-FD51E6E51C35}"/>
              </a:ext>
            </a:extLst>
          </p:cNvPr>
          <p:cNvSpPr txBox="1"/>
          <p:nvPr/>
        </p:nvSpPr>
        <p:spPr>
          <a:xfrm>
            <a:off x="72376" y="352109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</a:p>
          <a:p>
            <a:pPr algn="ctr"/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S. Renuga(Professor)</a:t>
            </a:r>
          </a:p>
          <a:p>
            <a:pPr algn="ctr"/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Subject:- 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CSA1606 – Data Warehousing and Data Mining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609600" y="36342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09600" y="1612413"/>
            <a:ext cx="10786533" cy="48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metrics give clear numbers to judge how well an athlete is performing, instead of only using opinions.​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data allows coaches to identify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strengths,weaknesses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skill gaps in players.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data makes training plans and match strategies more logical and evidence‑based, not just guesswork.​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show performance for single players and for the whole team, so overall statistics can be improved.​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workload and physical data supports injury prevention and long‑term performance improvement for all levels of sport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1CACD450-861F-14F5-36DF-34EDA249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7C280-20E1-9214-C214-19288C4D3C3D}"/>
              </a:ext>
            </a:extLst>
          </p:cNvPr>
          <p:cNvSpPr txBox="1"/>
          <p:nvPr/>
        </p:nvSpPr>
        <p:spPr>
          <a:xfrm>
            <a:off x="592664" y="1627038"/>
            <a:ext cx="1125891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simple system that measures players using numbers, so evaluation is objective and not only based on coach opinions.​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important match data for each player like speed, stamina, goals, passes, and defensive actions from scorecards or tracking devices.​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this data by removing errors or blanks, making units similar, and arranging it neatly player‑wise and match‑wise in tables.​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basic statistics and machine‑learning methods such as K‑Means and regression to group similar players and find what improves performance.​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results in clear dashboards with charts so coaches can quickly see who is strong who is weak, and plan training or team selection.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5D6C7-319E-E8A9-351B-7DD88A387DFE}"/>
              </a:ext>
            </a:extLst>
          </p:cNvPr>
          <p:cNvSpPr txBox="1"/>
          <p:nvPr/>
        </p:nvSpPr>
        <p:spPr>
          <a:xfrm>
            <a:off x="4889740" y="422523"/>
            <a:ext cx="24125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b="1" spc="-10" dirty="0">
                <a:latin typeface="Times New Roman"/>
                <a:cs typeface="Times New Roman"/>
              </a:rPr>
              <a:t>Abstract </a:t>
            </a:r>
            <a:endParaRPr lang="en-IN" sz="4400" b="1" dirty="0"/>
          </a:p>
        </p:txBody>
      </p:sp>
      <p:pic>
        <p:nvPicPr>
          <p:cNvPr id="4" name="Google Shape;100;p14">
            <a:extLst>
              <a:ext uri="{FF2B5EF4-FFF2-40B4-BE49-F238E27FC236}">
                <a16:creationId xmlns:a16="http://schemas.microsoft.com/office/drawing/2014/main" id="{27FF36AE-4A7A-6C2E-7F92-8F766064F5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9;p14">
            <a:extLst>
              <a:ext uri="{FF2B5EF4-FFF2-40B4-BE49-F238E27FC236}">
                <a16:creationId xmlns:a16="http://schemas.microsoft.com/office/drawing/2014/main" id="{9B231253-B263-9574-0020-96FFDE0E88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698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F672D10-06F7-F3DF-3B62-7954A574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996E21ED-7C0C-FB43-7DBC-B0CF5BBAED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6342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800" b="1" dirty="0">
                <a:latin typeface="Times New Roman"/>
                <a:cs typeface="Times New Roman"/>
                <a:sym typeface="Times New Roman"/>
              </a:rPr>
              <a:t>Problem statement</a:t>
            </a:r>
            <a:endParaRPr sz="4800" dirty="0"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5C781A97-34A5-B039-B760-356D72AE6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392" y="1678230"/>
            <a:ext cx="10972800" cy="479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players do not receive feedback that is directly linked to their actual match and training data.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performance is not tracked properly, it becomes harder for players to see progress and fix weaknesses quickly.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Coaches may rely on guesses or past impressions instead of clear statistics when selecting teams or planning tactics.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data is collected irregularly or using different methods, it can give a wrong picture of how players are performing.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detailed data, training plans are usually generic and not personalized to each player’s specific needs.</a:t>
            </a:r>
          </a:p>
        </p:txBody>
      </p:sp>
      <p:pic>
        <p:nvPicPr>
          <p:cNvPr id="99" name="Google Shape;99;p14">
            <a:extLst>
              <a:ext uri="{FF2B5EF4-FFF2-40B4-BE49-F238E27FC236}">
                <a16:creationId xmlns:a16="http://schemas.microsoft.com/office/drawing/2014/main" id="{E8B78DFE-53FB-625F-0397-B15AC067EB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>
            <a:extLst>
              <a:ext uri="{FF2B5EF4-FFF2-40B4-BE49-F238E27FC236}">
                <a16:creationId xmlns:a16="http://schemas.microsoft.com/office/drawing/2014/main" id="{C40AF515-26DB-79A9-584E-54B38BDD5C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441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B28A730B-9A0A-DCCE-D5AF-3246A4B0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D2E5EA0C-4D83-DF41-3B23-226D5001A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599" y="39151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800" b="1" dirty="0">
                <a:latin typeface="Times New Roman"/>
                <a:cs typeface="Times New Roman"/>
                <a:sym typeface="Times New Roman"/>
              </a:rPr>
              <a:t>Literature review</a:t>
            </a:r>
            <a:endParaRPr sz="4800" dirty="0"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1EED4F76-F70C-6A85-DE80-86DDF7446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6600" y="1534510"/>
            <a:ext cx="10972800" cy="479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0">
              <a:lnSpc>
                <a:spcPct val="115000"/>
              </a:lnSpc>
              <a:spcBef>
                <a:spcPts val="1200"/>
              </a:spcBef>
              <a:buNone/>
            </a:pP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42900" lvl="0" indent="-190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14">
            <a:extLst>
              <a:ext uri="{FF2B5EF4-FFF2-40B4-BE49-F238E27FC236}">
                <a16:creationId xmlns:a16="http://schemas.microsoft.com/office/drawing/2014/main" id="{50B1ACDC-BC8E-33AE-8109-0503AE262C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>
            <a:extLst>
              <a:ext uri="{FF2B5EF4-FFF2-40B4-BE49-F238E27FC236}">
                <a16:creationId xmlns:a16="http://schemas.microsoft.com/office/drawing/2014/main" id="{59469871-BD73-4607-9463-D945407B4D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2109568C-716D-2113-6EAB-7EF7491252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0960764"/>
              </p:ext>
            </p:extLst>
          </p:nvPr>
        </p:nvGraphicFramePr>
        <p:xfrm>
          <a:off x="805835" y="2043542"/>
          <a:ext cx="10580329" cy="4309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5082">
                  <a:extLst>
                    <a:ext uri="{9D8B030D-6E8A-4147-A177-3AD203B41FA5}">
                      <a16:colId xmlns:a16="http://schemas.microsoft.com/office/drawing/2014/main" val="2915384272"/>
                    </a:ext>
                  </a:extLst>
                </a:gridCol>
                <a:gridCol w="2614967">
                  <a:extLst>
                    <a:ext uri="{9D8B030D-6E8A-4147-A177-3AD203B41FA5}">
                      <a16:colId xmlns:a16="http://schemas.microsoft.com/office/drawing/2014/main" val="2238425809"/>
                    </a:ext>
                  </a:extLst>
                </a:gridCol>
                <a:gridCol w="2467014">
                  <a:extLst>
                    <a:ext uri="{9D8B030D-6E8A-4147-A177-3AD203B41FA5}">
                      <a16:colId xmlns:a16="http://schemas.microsoft.com/office/drawing/2014/main" val="1369109203"/>
                    </a:ext>
                  </a:extLst>
                </a:gridCol>
                <a:gridCol w="2853266">
                  <a:extLst>
                    <a:ext uri="{9D8B030D-6E8A-4147-A177-3AD203B41FA5}">
                      <a16:colId xmlns:a16="http://schemas.microsoft.com/office/drawing/2014/main" val="2921433622"/>
                    </a:ext>
                  </a:extLst>
                </a:gridCol>
              </a:tblGrid>
              <a:tr h="71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4264805835"/>
                  </a:ext>
                </a:extLst>
              </a:tr>
              <a:tr h="71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Tree, Naïve Bayes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and marks affect performance</a:t>
                      </a: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448092575"/>
                  </a:ext>
                </a:extLst>
              </a:tr>
              <a:tr h="71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SVM</a:t>
                      </a: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gave higher accuracy</a:t>
                      </a: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4074142300"/>
                  </a:ext>
                </a:extLst>
              </a:tr>
              <a:tr h="71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Thompson et al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Radar &amp; Heatmap visuals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/>
                        <a:t>Enhanced performance interpretation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extLst>
                  <a:ext uri="{0D108BD9-81ED-4DB2-BD59-A6C34878D82A}">
                    <a16:rowId xmlns:a16="http://schemas.microsoft.com/office/drawing/2014/main" val="3735959211"/>
                  </a:ext>
                </a:extLst>
              </a:tr>
              <a:tr h="71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Patel et al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Predictive modelling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15–20% improvement in outcome prediction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020967"/>
                  </a:ext>
                </a:extLst>
              </a:tr>
              <a:tr h="718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Lee &amp; Park,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Random Forest, clustering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01" marR="87801" marT="43900" marB="439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Enhanced team strategy and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710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428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MODULE - 1</a:t>
            </a:r>
            <a:endParaRPr dirty="0"/>
          </a:p>
        </p:txBody>
      </p:sp>
      <p:sp>
        <p:nvSpPr>
          <p:cNvPr id="116" name="Google Shape;116;p16"/>
          <p:cNvSpPr txBox="1">
            <a:spLocks noGrp="1"/>
          </p:cNvSpPr>
          <p:nvPr>
            <p:ph type="body" idx="1"/>
          </p:nvPr>
        </p:nvSpPr>
        <p:spPr>
          <a:xfrm>
            <a:off x="757162" y="1798638"/>
            <a:ext cx="10972800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spcBef>
                <a:spcPts val="0"/>
              </a:spcBef>
              <a:buSzPts val="2400"/>
              <a:buNone/>
            </a:pPr>
            <a:r>
              <a:rPr lang="en-US" sz="2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      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Preprocessing</a:t>
            </a:r>
            <a:endParaRPr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most important numbers for each player, such as speed, stamina, scoring rate, and passing accuracy.​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these values from different places like open datasets, wearable sensors, and official match scorecards or statistics websites.​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dataset by removing rows with missing values, deleting duplicates, and fixing any obvious errors in the records.​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all metrics to a common scale (for example, per match or per 90 minutes) so that players can be compared fairly.​</a:t>
            </a:r>
          </a:p>
          <a:p>
            <a:pPr algn="just"/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>
            <a:spLocks noGrp="1"/>
          </p:cNvSpPr>
          <p:nvPr>
            <p:ph type="body" idx="1"/>
          </p:nvPr>
        </p:nvSpPr>
        <p:spPr>
          <a:xfrm>
            <a:off x="639097" y="1542976"/>
            <a:ext cx="11087236" cy="498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Performance Metrics Analysis</a:t>
            </a:r>
            <a:endParaRPr sz="3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metrics help monitor fitness levels and overall athletic conditioning.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metrics reflect a player’s skill accuracy and execution quality.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Tactical metrics support understanding of game awareness and team coordination.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trends help coaches adjust training intensity and focus areas.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trends assist in predicting future performance outcomes.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Metrics-based evaluation supports fair player comparison.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insights improve both individual and team development.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7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826667" y="478347"/>
            <a:ext cx="1035336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ODULE 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body" idx="1"/>
          </p:nvPr>
        </p:nvSpPr>
        <p:spPr>
          <a:xfrm>
            <a:off x="639150" y="1247847"/>
            <a:ext cx="10913700" cy="49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spcBef>
                <a:spcPts val="1200"/>
              </a:spcBef>
              <a:buSzPts val="2400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Data Visualization &amp; Dashboard Development</a:t>
            </a:r>
            <a:endParaRPr lang="en-US" sz="24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turns complex player metrics into easy-to-understand charts and graphs.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and line graphs help compare player performance and track trends over time.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wise scoring maps show player score  and positioning after during matches.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combine multiple metrics into one interactive interface for coaches.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provide real-time updates and alerts on player performance and fatigue.</a:t>
            </a:r>
            <a:endParaRPr lang="en-US" sz="26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2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826667" y="478347"/>
            <a:ext cx="10353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ODULE-3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D451590-D934-DB7A-D966-97CCEA10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EFB729E4-52FB-183A-AAA0-3B2A936393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6342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IN" sz="4800" b="1" dirty="0"/>
              <a:t>Objectives</a:t>
            </a:r>
            <a:endParaRPr sz="4800" b="1" dirty="0"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87A21D0-F032-389F-0BD5-A0EC35940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6600" y="1534510"/>
            <a:ext cx="10972800" cy="479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algn="just">
              <a:spcBef>
                <a:spcPts val="1200"/>
              </a:spcBef>
              <a:buSzPts val="2400"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Quantify player performance with speed, stamina, accuracy, and scoring efficiency for objective assessment.</a:t>
            </a:r>
          </a:p>
          <a:p>
            <a:pPr marL="495300" algn="just">
              <a:spcBef>
                <a:spcPts val="1200"/>
              </a:spcBef>
              <a:buSzPts val="2400"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Use statistics and machine-learning methods to convert raw match data into reliable player ratings.</a:t>
            </a:r>
          </a:p>
          <a:p>
            <a:pPr marL="495300" algn="just">
              <a:spcBef>
                <a:spcPts val="1200"/>
              </a:spcBef>
              <a:buSzPts val="2400"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Apply clustering algorithms to group players with similar performance profiles for targeted coaching.</a:t>
            </a:r>
          </a:p>
          <a:p>
            <a:pPr marL="495300" algn="just">
              <a:spcBef>
                <a:spcPts val="1200"/>
              </a:spcBef>
              <a:buSzPts val="2400"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Create radar charts and dashboards to visualize multidimensional strengths and weaknesses clearly.</a:t>
            </a:r>
          </a:p>
          <a:p>
            <a:pPr marL="495300" algn="just">
              <a:spcBef>
                <a:spcPts val="1200"/>
              </a:spcBef>
              <a:buSzPts val="2400"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Support fair, transparent team selection decisions by relying on reproducible data-driven analytics.</a:t>
            </a:r>
          </a:p>
        </p:txBody>
      </p:sp>
      <p:pic>
        <p:nvPicPr>
          <p:cNvPr id="99" name="Google Shape;99;p14">
            <a:extLst>
              <a:ext uri="{FF2B5EF4-FFF2-40B4-BE49-F238E27FC236}">
                <a16:creationId xmlns:a16="http://schemas.microsoft.com/office/drawing/2014/main" id="{6C747016-56E4-180A-6C2B-CA6346DF62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>
            <a:extLst>
              <a:ext uri="{FF2B5EF4-FFF2-40B4-BE49-F238E27FC236}">
                <a16:creationId xmlns:a16="http://schemas.microsoft.com/office/drawing/2014/main" id="{C33BC260-692E-B87E-FFEC-8F4B0C9CCD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64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body" idx="1"/>
          </p:nvPr>
        </p:nvSpPr>
        <p:spPr>
          <a:xfrm>
            <a:off x="609600" y="1923045"/>
            <a:ext cx="10972800" cy="484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938AE515-00F8-2E11-11AC-158BDE063E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041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8A99981E-8DEF-96E3-AB86-18748EC797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1041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EB80C117-CDBB-C3F0-48B9-D9F0E9823D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1041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9A4038DF-F29B-9365-7704-DBDDA563B6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7D587-E534-2631-B050-B58ECF67CEA9}"/>
              </a:ext>
            </a:extLst>
          </p:cNvPr>
          <p:cNvSpPr txBox="1"/>
          <p:nvPr/>
        </p:nvSpPr>
        <p:spPr>
          <a:xfrm>
            <a:off x="4157007" y="509092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1A0273-6678-13C4-57DA-FA608BD42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34" y="1651000"/>
            <a:ext cx="10585466" cy="49460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C80EDA43-C146-CD3D-A0F2-8A43BB34F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>
            <a:extLst>
              <a:ext uri="{FF2B5EF4-FFF2-40B4-BE49-F238E27FC236}">
                <a16:creationId xmlns:a16="http://schemas.microsoft.com/office/drawing/2014/main" id="{FB648DFC-B4C1-5BB3-1878-0C9B83E92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cs typeface="Times New Roman"/>
                <a:sym typeface="Times New Roman"/>
              </a:rPr>
              <a:t>OUTPUT</a:t>
            </a:r>
            <a:endParaRPr dirty="0"/>
          </a:p>
        </p:txBody>
      </p:sp>
      <p:pic>
        <p:nvPicPr>
          <p:cNvPr id="161" name="Google Shape;161;p21">
            <a:extLst>
              <a:ext uri="{FF2B5EF4-FFF2-40B4-BE49-F238E27FC236}">
                <a16:creationId xmlns:a16="http://schemas.microsoft.com/office/drawing/2014/main" id="{D30A5D38-2CEC-B6B6-1812-1CED5DDCB9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>
            <a:extLst>
              <a:ext uri="{FF2B5EF4-FFF2-40B4-BE49-F238E27FC236}">
                <a16:creationId xmlns:a16="http://schemas.microsoft.com/office/drawing/2014/main" id="{E9913947-1A76-7F9C-8C06-AAF5E99B57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>
            <a:extLst>
              <a:ext uri="{FF2B5EF4-FFF2-40B4-BE49-F238E27FC236}">
                <a16:creationId xmlns:a16="http://schemas.microsoft.com/office/drawing/2014/main" id="{1B1EA030-B7A8-F224-1A7D-C40D731DF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6200" y="1930400"/>
            <a:ext cx="10599600" cy="547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800" dirty="0"/>
              <a:t>Strengths Radar</a:t>
            </a:r>
            <a:endParaRPr sz="2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1AC2B1-6772-01BC-F1DC-B530AD11B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0" y="2453620"/>
            <a:ext cx="4615542" cy="3578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35E227-5296-37BC-0C25-FDF196FC7655}"/>
              </a:ext>
            </a:extLst>
          </p:cNvPr>
          <p:cNvSpPr txBox="1"/>
          <p:nvPr/>
        </p:nvSpPr>
        <p:spPr>
          <a:xfrm>
            <a:off x="796200" y="1765762"/>
            <a:ext cx="434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Speed, Stamina, Scoring, and Pass Accuracy Using</a:t>
            </a:r>
          </a:p>
          <a:p>
            <a:r>
              <a:rPr lang="en-IN" b="1" dirty="0"/>
              <a:t> Strengths Radar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115DC-95C8-30AD-1794-C14094BA89E8}"/>
              </a:ext>
            </a:extLst>
          </p:cNvPr>
          <p:cNvSpPr txBox="1"/>
          <p:nvPr/>
        </p:nvSpPr>
        <p:spPr>
          <a:xfrm>
            <a:off x="6166931" y="1768741"/>
            <a:ext cx="434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“Player Grouping by Speed and Scoring Using</a:t>
            </a:r>
          </a:p>
          <a:p>
            <a:r>
              <a:rPr lang="en-US" dirty="0"/>
              <a:t> </a:t>
            </a:r>
            <a:r>
              <a:rPr lang="en-US" b="1" dirty="0"/>
              <a:t>K-Means Clustering”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639F5-6942-99FC-CC18-EA989F3FA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1133" y="2453620"/>
            <a:ext cx="5714667" cy="357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44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RESULTS &amp; DISCUSSION</a:t>
            </a:r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666751" y="1191986"/>
            <a:ext cx="10972799" cy="5474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highlighted important metrics like speed, passing accuracy, and scoring efficiency that strongly influence a player’s success.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charts clearly separated high and low performers, making strengths and weaknesses easy to understand.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heatmap charts allowed fair, evidence‑based comparison of players across multiple skill dimensions at once.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methods grouped players with similar performance patterns, supporting better team selection and role assignment.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data‑driven insights reduced personal bias and supported more consistent, accurate coaching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/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616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>
            <a:spLocks noGrp="1"/>
          </p:cNvSpPr>
          <p:nvPr>
            <p:ph type="body" idx="1"/>
          </p:nvPr>
        </p:nvSpPr>
        <p:spPr>
          <a:xfrm>
            <a:off x="357352" y="1993562"/>
            <a:ext cx="11676993" cy="4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performance becomes more accurate when based on numerical data and analytics instead of only human eye judgment.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Important performance factors such as speed, accuracy, stamina, and scoring ability directly influence how well a player performs in matches.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dashboards convert big performance tables into clear charts that coaches can read and interpret quickly.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charts show each player’s strengths and weaknesses across many skills in a single, easy graphic.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methods automatically group players with similar performance levels or styles, helping role and squad decisions.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data-driven evaluation reduces personal bias, allowing coaches to make fair decisions, select better teams, and plan stronger match strategies.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46922289-FA32-21B9-BA5F-5AA354AE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EA6392E5-200A-D5C1-2691-970CE10542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000"/>
            </a:pPr>
            <a:r>
              <a:rPr lang="en-IN" sz="4000" b="1" dirty="0"/>
              <a:t>Future Enhancement</a:t>
            </a:r>
            <a:endParaRPr b="1" dirty="0"/>
          </a:p>
        </p:txBody>
      </p:sp>
      <p:pic>
        <p:nvPicPr>
          <p:cNvPr id="170" name="Google Shape;170;p22">
            <a:extLst>
              <a:ext uri="{FF2B5EF4-FFF2-40B4-BE49-F238E27FC236}">
                <a16:creationId xmlns:a16="http://schemas.microsoft.com/office/drawing/2014/main" id="{FBCD32F4-9625-6C09-5EBA-F11A9BCCF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>
            <a:extLst>
              <a:ext uri="{FF2B5EF4-FFF2-40B4-BE49-F238E27FC236}">
                <a16:creationId xmlns:a16="http://schemas.microsoft.com/office/drawing/2014/main" id="{CDF2A354-1781-796A-BD48-3397B8DB46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>
            <a:extLst>
              <a:ext uri="{FF2B5EF4-FFF2-40B4-BE49-F238E27FC236}">
                <a16:creationId xmlns:a16="http://schemas.microsoft.com/office/drawing/2014/main" id="{B56EFA97-DCB8-C87F-55E9-579E24F4D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850" y="2057400"/>
            <a:ext cx="12111150" cy="411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live match feeds allows continuous monitoring of player performance, supporting in‑game feedback and tactical adjustments.​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injury-risk prediction and fitness monitoring helps control player workload, avoid overtraining, and reduce long-term injuries.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advanced machine learning models, such as deep learning and ensemble methods, improves prediction accuracy for players and team results.​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psychological factors and tactical behavior creates a more complete and balanced view of player performance profiles.​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web or mobile app makes these analytics easily accessible for coaches and analysts anytime, improving practical decision use.</a:t>
            </a:r>
            <a:endParaRPr sz="2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3391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/>
          </a:p>
        </p:txBody>
      </p:sp>
      <p:sp>
        <p:nvSpPr>
          <p:cNvPr id="178" name="Google Shape;178;p23"/>
          <p:cNvSpPr txBox="1">
            <a:spLocks noGrp="1"/>
          </p:cNvSpPr>
          <p:nvPr>
            <p:ph type="body" idx="1"/>
          </p:nvPr>
        </p:nvSpPr>
        <p:spPr>
          <a:xfrm>
            <a:off x="609600" y="1617522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Pietraszewski, P., et al. (2025).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Artificial Intelligence in Sports Analytics: A Systematic Review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Applied Sciences, MDPI.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Jia, X., et al. (2025).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in Sports Performance Analysis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BMC Sports Science, Medicine and Rehabilitation.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Zaręba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et al. (2025).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Evaluation of Player Performance in Football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Big Data.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Kovalchik, S. (2023).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Tracking Data and Performance Metrics in Sports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Annual Review of Statistics and Its Application.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 (2024).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Performance Prediction Using Machine Learning in Basketball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9" name="Google Shape;17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41FF5-14B1-2808-4C85-C47BFD39D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3680" y="2819401"/>
            <a:ext cx="10972800" cy="45259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9600" dirty="0">
                <a:latin typeface="Bell MT" panose="02020503060305020303" pitchFamily="18" charset="0"/>
              </a:rPr>
              <a:t>THANK YOU</a:t>
            </a:r>
          </a:p>
        </p:txBody>
      </p:sp>
      <p:pic>
        <p:nvPicPr>
          <p:cNvPr id="4" name="Google Shape;179;p23">
            <a:extLst>
              <a:ext uri="{FF2B5EF4-FFF2-40B4-BE49-F238E27FC236}">
                <a16:creationId xmlns:a16="http://schemas.microsoft.com/office/drawing/2014/main" id="{E27DF585-FFA7-390F-D202-0E728260EA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0;p23">
            <a:extLst>
              <a:ext uri="{FF2B5EF4-FFF2-40B4-BE49-F238E27FC236}">
                <a16:creationId xmlns:a16="http://schemas.microsoft.com/office/drawing/2014/main" id="{FEE38FA8-4011-76E7-B533-37DBC10527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2798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1264</Words>
  <Application>Microsoft Office PowerPoint</Application>
  <PresentationFormat>Widescreen</PresentationFormat>
  <Paragraphs>132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Bell MT</vt:lpstr>
      <vt:lpstr>Calibri</vt:lpstr>
      <vt:lpstr>Times New Roman</vt:lpstr>
      <vt:lpstr>Office Theme</vt:lpstr>
      <vt:lpstr>Analyzing Sports Performance Using Player Metrics</vt:lpstr>
      <vt:lpstr>INTRODUCTION</vt:lpstr>
      <vt:lpstr>PowerPoint Presentation</vt:lpstr>
      <vt:lpstr>Problem statement</vt:lpstr>
      <vt:lpstr>Literature review</vt:lpstr>
      <vt:lpstr>MODULE - 1</vt:lpstr>
      <vt:lpstr>PowerPoint Presentation</vt:lpstr>
      <vt:lpstr>PowerPoint Presentation</vt:lpstr>
      <vt:lpstr>Objectives</vt:lpstr>
      <vt:lpstr>PowerPoint Presentation</vt:lpstr>
      <vt:lpstr>OUTPUT</vt:lpstr>
      <vt:lpstr>RESULTS &amp; DISCUSSION</vt:lpstr>
      <vt:lpstr>CONCLUSION</vt:lpstr>
      <vt:lpstr>Future Enhancement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Sports Performance Using Player Metrics</dc:title>
  <dc:creator>Maddirala balamuralikrishna</dc:creator>
  <cp:lastModifiedBy>BHARATH KUMAR REDDY</cp:lastModifiedBy>
  <cp:revision>14</cp:revision>
  <dcterms:modified xsi:type="dcterms:W3CDTF">2026-08-20T03:29:15Z</dcterms:modified>
</cp:coreProperties>
</file>